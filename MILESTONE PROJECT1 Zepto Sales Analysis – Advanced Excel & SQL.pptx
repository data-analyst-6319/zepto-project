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9" r:id="rId11"/>
    <p:sldId id="318" r:id="rId12"/>
    <p:sldId id="321" r:id="rId13"/>
    <p:sldId id="322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9" d="100"/>
          <a:sy n="79" d="100"/>
        </p:scale>
        <p:origin x="850" y="8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GB" dirty="0"/>
              <a:t>Sales Performance Analysis – </a:t>
            </a:r>
            <a:r>
              <a:rPr lang="en-GB" dirty="0" err="1"/>
              <a:t>Zepto</a:t>
            </a:r>
            <a:r>
              <a:rPr lang="en-GB" dirty="0"/>
              <a:t> (Milestone 1 Project)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Introduction</a:t>
            </a:r>
          </a:p>
          <a:p>
            <a:r>
              <a:rPr lang="en-US" dirty="0"/>
              <a:t>Data Cleaning and Preparation</a:t>
            </a:r>
          </a:p>
          <a:p>
            <a:r>
              <a:rPr lang="en-US" dirty="0"/>
              <a:t>Data Import into MySQL</a:t>
            </a:r>
          </a:p>
          <a:p>
            <a:r>
              <a:rPr lang="en-US" dirty="0"/>
              <a:t>SQL Queries &amp; Dashboard Creation</a:t>
            </a:r>
          </a:p>
          <a:p>
            <a:r>
              <a:rPr lang="en-US" dirty="0"/>
              <a:t>Conclusion &amp; Takeaways</a:t>
            </a:r>
          </a:p>
          <a:p>
            <a:r>
              <a:rPr lang="en-US" dirty="0"/>
              <a:t>Business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1448113"/>
          </a:xfrm>
        </p:spPr>
        <p:txBody>
          <a:bodyPr/>
          <a:lstStyle/>
          <a:p>
            <a:r>
              <a:rPr lang="en-US" dirty="0"/>
              <a:t>Project introduction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6AE0-3065-4998-C173-5FD048BD7CAA}"/>
              </a:ext>
            </a:extLst>
          </p:cNvPr>
          <p:cNvSpPr txBox="1">
            <a:spLocks/>
          </p:cNvSpPr>
          <p:nvPr/>
        </p:nvSpPr>
        <p:spPr>
          <a:xfrm>
            <a:off x="5138235" y="2921949"/>
            <a:ext cx="6097211" cy="2852631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Milestone 1: Advanced Excel &amp; SQL Integration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This project focuses on analysing </a:t>
            </a:r>
            <a:r>
              <a:rPr lang="en-GB" sz="1800" dirty="0" err="1"/>
              <a:t>Zepto’s</a:t>
            </a:r>
            <a:r>
              <a:rPr lang="en-GB" sz="1800" dirty="0"/>
              <a:t> product-level sales data across major Indian cities using a combination of SQL queries and Excel dashboards. The goal is to uncover actionable insights into revenue trends, discount strategies, and the impact of influencer-driven sales.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Data Cleaning and Preparation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677056"/>
            <a:ext cx="5259554" cy="249502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Handling duplicates - Removed duplicates from dataset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Standardizing categories - </a:t>
            </a:r>
            <a:r>
              <a:rPr lang="en-GB" sz="2000" dirty="0"/>
              <a:t>Standardized product categories and city names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Calculating discounts - </a:t>
            </a:r>
            <a:r>
              <a:rPr lang="en-GB" sz="2000" dirty="0"/>
              <a:t>Verified and corrected discount calculations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/>
              <a:t>Verifying influencer flags - </a:t>
            </a:r>
            <a:r>
              <a:rPr lang="en-GB" sz="2000" dirty="0"/>
              <a:t>Ensured 'Influencer Active' field is consistent (Yes/No)</a:t>
            </a:r>
            <a:endParaRPr lang="en-US" sz="2000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Data Import into MySQL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8"/>
            <a:ext cx="7965460" cy="3767031"/>
          </a:xfrm>
        </p:spPr>
        <p:txBody>
          <a:bodyPr/>
          <a:lstStyle/>
          <a:p>
            <a:r>
              <a:rPr lang="en-GB" dirty="0"/>
              <a:t>Used MySQL Workbench to create '</a:t>
            </a:r>
            <a:r>
              <a:rPr lang="en-GB" dirty="0" err="1"/>
              <a:t>zepto_dataset</a:t>
            </a:r>
            <a:r>
              <a:rPr lang="en-GB" dirty="0"/>
              <a:t>' database</a:t>
            </a:r>
            <a:endParaRPr lang="en-US" dirty="0"/>
          </a:p>
          <a:p>
            <a:r>
              <a:rPr lang="en-GB" dirty="0"/>
              <a:t>Imported Excel data using CSV export and LOAD DATA INFILE</a:t>
            </a:r>
          </a:p>
          <a:p>
            <a:r>
              <a:rPr lang="en-GB" dirty="0"/>
              <a:t>Table schema includes: Product Name, Category, City, Prices, Orders, Revenue, Influencer Flag</a:t>
            </a:r>
          </a:p>
          <a:p>
            <a:r>
              <a:rPr lang="en-GB" dirty="0"/>
              <a:t>A Separate SQL queries are documented for below,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Total Revenue: SELECT SUM(`Total Revenue`) FROM </a:t>
            </a:r>
            <a:r>
              <a:rPr lang="en-GB" dirty="0" err="1"/>
              <a:t>zepto_sales_dataset</a:t>
            </a:r>
            <a:r>
              <a:rPr lang="en-GB" dirty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Total Orders: SELECT SUM(`Orders`) FROM </a:t>
            </a:r>
            <a:r>
              <a:rPr lang="en-GB" dirty="0" err="1"/>
              <a:t>zepto_sales_dataset</a:t>
            </a:r>
            <a:r>
              <a:rPr lang="en-GB" dirty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Influencer Revenue: SELECT SUM(`Total Revenue`) WHERE `Influencer Active` = 'Yes’;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City-wise Revenue: SELECT City, SUM(`Total Revenue`) GROUP BY City;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SQL Queries &amp; Dashboard Creation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 descr="A close-up of a chart&#10;&#10;AI-generated content may be incorrect.">
            <a:extLst>
              <a:ext uri="{FF2B5EF4-FFF2-40B4-BE49-F238E27FC236}">
                <a16:creationId xmlns:a16="http://schemas.microsoft.com/office/drawing/2014/main" id="{78613990-B2C7-9284-1EF0-6D0DDB935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741" y="1238251"/>
            <a:ext cx="953452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/>
              <a:t>Total revenue </a:t>
            </a:r>
            <a:r>
              <a:rPr lang="en-GB" sz="2000" dirty="0" err="1"/>
              <a:t>analyzed</a:t>
            </a:r>
            <a:r>
              <a:rPr lang="en-GB" sz="2000" dirty="0"/>
              <a:t>: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₹57,83,351</a:t>
            </a:r>
            <a:r>
              <a:rPr lang="en-GB" sz="2000" dirty="0"/>
              <a:t> across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300+</a:t>
            </a:r>
            <a:r>
              <a:rPr lang="en-GB" sz="2000" dirty="0"/>
              <a:t> product-level entries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/>
              <a:t>Influencer-driven sales contributed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₹16,64,472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sz="2000" dirty="0"/>
              <a:t>— </a:t>
            </a:r>
            <a:r>
              <a:rPr lang="en-IN" sz="2000" dirty="0"/>
              <a:t>accounting for</a:t>
            </a:r>
            <a:r>
              <a:rPr lang="en-GB" sz="2000" dirty="0"/>
              <a:t>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28.78%</a:t>
            </a:r>
            <a:r>
              <a:rPr lang="en-GB" sz="2000" dirty="0"/>
              <a:t> of total revenue</a:t>
            </a:r>
            <a:endParaRPr lang="en-US" sz="2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/>
              <a:t>Top-performing cities</a:t>
            </a:r>
            <a:r>
              <a:rPr lang="en-IN" sz="2000" dirty="0"/>
              <a:t>📍</a:t>
            </a:r>
            <a:r>
              <a:rPr lang="en-GB" sz="2000" dirty="0"/>
              <a:t>: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Hyderabad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Bangalore</a:t>
            </a:r>
            <a:r>
              <a:rPr lang="en-GB" sz="2000" dirty="0"/>
              <a:t>, and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Pune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/>
              <a:t>Leading categories: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Snacks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Beverages</a:t>
            </a:r>
            <a:r>
              <a:rPr lang="en-GB" sz="2000" dirty="0"/>
              <a:t>, and </a:t>
            </a: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Grocery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/>
              <a:t>As Project Outcome Excel-SQL integration enables real-time, dynamic </a:t>
            </a:r>
            <a:r>
              <a:rPr lang="en-IN" sz="2000" dirty="0"/>
              <a:t>refreshable </a:t>
            </a:r>
            <a:r>
              <a:rPr lang="en-GB" sz="2000" dirty="0"/>
              <a:t>dashboards </a:t>
            </a:r>
            <a:r>
              <a:rPr lang="en-IN" sz="2000" dirty="0"/>
              <a:t>📊</a:t>
            </a:r>
            <a:r>
              <a:rPr lang="en-GB" sz="2000" dirty="0"/>
              <a:t> with slicers, KPI</a:t>
            </a:r>
            <a:r>
              <a:rPr lang="en-IN" sz="2000" dirty="0"/>
              <a:t>🎯</a:t>
            </a:r>
            <a:r>
              <a:rPr lang="en-GB" sz="2000" dirty="0"/>
              <a:t> cards, and charts.</a:t>
            </a:r>
            <a:endParaRPr lang="en-US" sz="2000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IN" b="1" dirty="0"/>
              <a:t>Influencer Impact is Significant</a:t>
            </a:r>
            <a:r>
              <a:rPr lang="en-IN" dirty="0"/>
              <a:t>: </a:t>
            </a:r>
            <a:r>
              <a:rPr lang="en-GB" dirty="0"/>
              <a:t>Products tagged “Yes” for influencer activity showed strong revenue performance</a:t>
            </a:r>
            <a:endParaRPr lang="en-US" dirty="0"/>
          </a:p>
          <a:p>
            <a:r>
              <a:rPr lang="en-IN" b="1" dirty="0"/>
              <a:t>City-Level Strategy is Crucial</a:t>
            </a:r>
            <a:r>
              <a:rPr lang="en-IN" dirty="0"/>
              <a:t>: </a:t>
            </a:r>
            <a:r>
              <a:rPr lang="en-GB" dirty="0"/>
              <a:t>Regional trends highlight where marketing and inventory should be optimized</a:t>
            </a:r>
            <a:endParaRPr lang="en-US" dirty="0"/>
          </a:p>
          <a:p>
            <a:r>
              <a:rPr lang="en-IN" b="1" dirty="0"/>
              <a:t>Category Trends Drive Decisions</a:t>
            </a:r>
            <a:r>
              <a:rPr lang="en-IN" dirty="0"/>
              <a:t>: </a:t>
            </a:r>
            <a:r>
              <a:rPr lang="en-GB" dirty="0"/>
              <a:t>Snacks and Beverages consistently outperform others in volume and revenue</a:t>
            </a:r>
            <a:endParaRPr lang="en-US" dirty="0"/>
          </a:p>
          <a:p>
            <a:r>
              <a:rPr lang="en-IN" b="1" dirty="0"/>
              <a:t>Data Integration Matters</a:t>
            </a:r>
            <a:r>
              <a:rPr lang="en-IN" dirty="0"/>
              <a:t>: </a:t>
            </a:r>
            <a:r>
              <a:rPr lang="en-GB" dirty="0"/>
              <a:t>ODBC connectivity enabled real-time updates and scalable analysis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0370-EE80-C4FE-1198-42F0C6C6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76" y="579450"/>
            <a:ext cx="3932237" cy="1524662"/>
          </a:xfrm>
        </p:spPr>
        <p:txBody>
          <a:bodyPr/>
          <a:lstStyle/>
          <a:p>
            <a:r>
              <a:rPr lang="en-GB" dirty="0"/>
              <a:t>BUSINESS INSIGHTS</a:t>
            </a:r>
            <a:r>
              <a:rPr lang="en-IN" dirty="0"/>
              <a:t>💡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82FB97-7469-1394-5F58-9FD52C57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41DFE-E55B-3032-7811-1FB4DD003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460" y="2286000"/>
            <a:ext cx="4564729" cy="356708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Influencer Campaign Effectiveness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City-Level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Category Trends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Discount 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Product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FBE0CB-147E-B333-6847-E876E46C4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741458"/>
            <a:ext cx="6242839" cy="55328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1800" dirty="0"/>
              <a:t>Influencer-driven sales contributed </a:t>
            </a:r>
            <a:r>
              <a:rPr lang="en-GB" sz="1800" b="1" dirty="0"/>
              <a:t>₹16,64,472 (28.78%)</a:t>
            </a:r>
            <a:r>
              <a:rPr lang="en-GB" sz="1800" dirty="0"/>
              <a:t> of total revenue. Strongest impact seen in </a:t>
            </a:r>
            <a:r>
              <a:rPr lang="en-GB" sz="1800" b="1" dirty="0"/>
              <a:t>Pune</a:t>
            </a:r>
            <a:r>
              <a:rPr lang="en-GB" sz="1800" dirty="0"/>
              <a:t> and </a:t>
            </a:r>
            <a:r>
              <a:rPr lang="en-GB" sz="1800" b="1" dirty="0"/>
              <a:t>Bangalore</a:t>
            </a:r>
            <a:r>
              <a:rPr lang="en-GB" sz="1800" dirty="0"/>
              <a:t>, suggesting expansion of influencer partnerships in these cities.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1800" b="1" dirty="0"/>
              <a:t>Hyderabad, Bangalore, and Pune</a:t>
            </a:r>
            <a:r>
              <a:rPr lang="en-GB" sz="1800" dirty="0"/>
              <a:t> are the top-performing cities by revenue. These regions should be prioritized for inventory stocking and targeted promotions.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1800" b="1" dirty="0"/>
              <a:t>Snacks, Beverages, and Grocery</a:t>
            </a:r>
            <a:r>
              <a:rPr lang="en-GB" sz="1800" dirty="0"/>
              <a:t> dominate both sales volume and revenue. Marketing spend and bundling strategies should focus on these categories to maximize ROI (Return of Investment).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1800" dirty="0"/>
              <a:t>Discounts vary widely across cities and products. Standardizing discount policies or targeting them strategically can improve margins without hurting demand.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1800" dirty="0"/>
              <a:t>High-performing products include </a:t>
            </a:r>
            <a:r>
              <a:rPr lang="en-GB" sz="1800" b="1" dirty="0"/>
              <a:t>Britannia Cake, Pepsi 500ml, and Maggi Noodles</a:t>
            </a:r>
            <a:r>
              <a:rPr lang="en-GB" sz="1800" dirty="0"/>
              <a:t>. These can anchor promotional bundles, loyalty programs, or influencer-driven campaigns.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41604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Presented by,</a:t>
            </a:r>
          </a:p>
          <a:p>
            <a:r>
              <a:rPr lang="en-US" dirty="0"/>
              <a:t>Sangeetha .S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{98E733CD-0488-40A7-904B-8CB1FFDE505E}tf78438558_win32</Template>
  <TotalTime>1492</TotalTime>
  <Words>540</Words>
  <Application>Microsoft Office PowerPoint</Application>
  <PresentationFormat>Widescreen</PresentationFormat>
  <Paragraphs>59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Sabon Next LT</vt:lpstr>
      <vt:lpstr>Wingdings</vt:lpstr>
      <vt:lpstr>Custom</vt:lpstr>
      <vt:lpstr>Sales Performance Analysis – Zepto (Milestone 1 Project)</vt:lpstr>
      <vt:lpstr>agenda</vt:lpstr>
      <vt:lpstr>Project introduction</vt:lpstr>
      <vt:lpstr>Data Cleaning and Preparation </vt:lpstr>
      <vt:lpstr>Data Import into MySQL </vt:lpstr>
      <vt:lpstr>SQL Queries &amp; Dashboard Creation</vt:lpstr>
      <vt:lpstr>PowerPoint Presentation</vt:lpstr>
      <vt:lpstr>Conclusion</vt:lpstr>
      <vt:lpstr>takeaways</vt:lpstr>
      <vt:lpstr>BUSINESS INSIGHTS💡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admin</cp:lastModifiedBy>
  <cp:revision>4</cp:revision>
  <dcterms:created xsi:type="dcterms:W3CDTF">2025-12-11T06:43:26Z</dcterms:created>
  <dcterms:modified xsi:type="dcterms:W3CDTF">2025-12-12T07:35:47Z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